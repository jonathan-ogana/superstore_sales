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12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5.png"/><Relationship Id="rId5" Type="http://schemas.openxmlformats.org/officeDocument/2006/relationships/image" Target="../media/image31.png"/><Relationship Id="rId10" Type="http://schemas.openxmlformats.org/officeDocument/2006/relationships/image" Target="../media/image34.png"/><Relationship Id="rId4" Type="http://schemas.openxmlformats.org/officeDocument/2006/relationships/image" Target="../media/image30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558605"/>
            <a:ext cx="7620000" cy="552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746944"/>
            <a:ext cx="3295650" cy="295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342447"/>
            <a:ext cx="7952231" cy="6079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4657"/>
              </a:lnSpc>
            </a:pPr>
            <a:r>
              <a:rPr lang="en-US" sz="4400" b="1" dirty="0"/>
              <a:t>Superstore Sales Dashboard</a:t>
            </a:r>
            <a:endParaRPr sz="40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3172116"/>
            <a:ext cx="8096250" cy="569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50"/>
              </a:lnSpc>
            </a:pPr>
            <a:r>
              <a:rPr lang="en-US" sz="1600" dirty="0"/>
              <a:t>An interactive Power BI dashboard developed to analyse retail sales performance, customer behavior, product trends, and regional performance to support data-driven business decisions.</a:t>
            </a:r>
            <a:endParaRPr sz="1500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6524625"/>
            <a:ext cx="20764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00" dirty="0"/>
              <a:t>AnalystLab Africa Internship Project</a:t>
            </a:r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45368" y="6524625"/>
            <a:ext cx="67513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1 of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758630"/>
            <a:ext cx="147637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u="none" dirty="0">
                <a:solidFill>
                  <a:srgbClr val="0F172A"/>
                </a:solidFill>
                <a:latin typeface="Inter"/>
              </a:rPr>
              <a:t>Project Domain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n-US" sz="1200" dirty="0"/>
              <a:t>Retail Sales Analytics</a:t>
            </a:r>
          </a:p>
          <a:p>
            <a:r>
              <a:rPr lang="en-US" sz="1200" dirty="0"/>
              <a:t>Business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4125" y="4758630"/>
            <a:ext cx="147637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1" dirty="0"/>
              <a:t>Developed By</a:t>
            </a:r>
          </a:p>
          <a:p>
            <a:r>
              <a:rPr lang="en-US" sz="1200" dirty="0"/>
              <a:t>Jonathan Ogana</a:t>
            </a:r>
          </a:p>
          <a:p>
            <a:r>
              <a:rPr lang="en-US" sz="1200" dirty="0"/>
              <a:t>Data Analytics Intern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4825" y="4758630"/>
            <a:ext cx="20193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1" dirty="0"/>
              <a:t>Project Duration</a:t>
            </a:r>
          </a:p>
          <a:p>
            <a:r>
              <a:rPr lang="en-US" sz="1200" dirty="0"/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48929"/>
            <a:ext cx="5381625" cy="328404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148929"/>
            <a:ext cx="5381625" cy="32840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Business Problem &amp; Objective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962025"/>
            <a:ext cx="7620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927080" y="6524625"/>
            <a:ext cx="69342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2 of 9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415629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9625" y="3025229"/>
            <a:ext cx="515064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F172A"/>
                </a:solidFill>
                <a:latin typeface="Poppins SemiBold"/>
              </a:rPr>
              <a:t>Core Business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406229"/>
            <a:ext cx="4905375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Despite steady customer acquisition, quarterly gross revenue growth stagnated at 2.4% due to elevated churn following the 90-day post-acquisition window.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415629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77000" y="3025229"/>
            <a:ext cx="515064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F172A"/>
                </a:solidFill>
                <a:latin typeface="Poppins SemiBold"/>
              </a:rPr>
              <a:t>Analytical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406229"/>
            <a:ext cx="4905375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Deliver actionable insights using historical order telemetry to identify retention bottlenecks, segment high-value shoppers, and stabilize recurring revenue.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50" y="2539454"/>
            <a:ext cx="20955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4256722"/>
            <a:ext cx="857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4257675"/>
            <a:ext cx="4714875" cy="23619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Rising Customer Acquisition Cost (CAC up 18% YoY).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69112"/>
            <a:ext cx="857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4570065"/>
            <a:ext cx="4714875" cy="23619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32% drop in repeat orders after first purchase.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81502"/>
            <a:ext cx="857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125" y="4882455"/>
            <a:ext cx="4714875" cy="23619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Unoptimized discount campaigns diluting profit margins.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0825" y="2539454"/>
            <a:ext cx="209550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81775" y="4256722"/>
            <a:ext cx="857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0" y="4257675"/>
            <a:ext cx="4714875" cy="23619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Quantify customer lifetime value (CLV) drivers.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1775" y="4569112"/>
            <a:ext cx="857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0" y="4570065"/>
            <a:ext cx="4714875" cy="23619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Pinpoint operational friction during checkout &amp; delivery.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1775" y="4881502"/>
            <a:ext cx="8572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7500" y="4882455"/>
            <a:ext cx="4714875" cy="23619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Deliver executive dashboards for proactive retention.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E51473-46C2-6007-E883-12C55C2E3BF7}"/>
              </a:ext>
            </a:extLst>
          </p:cNvPr>
          <p:cNvSpPr txBox="1"/>
          <p:nvPr/>
        </p:nvSpPr>
        <p:spPr>
          <a:xfrm>
            <a:off x="762000" y="6524625"/>
            <a:ext cx="20764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00" dirty="0"/>
              <a:t>AnalystLab Africa Internship Project</a:t>
            </a:r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78187"/>
            <a:ext cx="11049000" cy="24884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Dataset Overview &amp;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962025"/>
            <a:ext cx="7620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71500" y="2215306"/>
            <a:ext cx="110490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The analysis evaluates 24 months of transactional and customer interaction data synthesized across 4 core relational data models with 99.4% completeness.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8792" y="6524625"/>
            <a:ext cx="711708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3 of 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1025" y="2887712"/>
          <a:ext cx="11029948" cy="2469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6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5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7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871"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FFFFFF"/>
                          </a:solidFill>
                          <a:latin typeface="Inter SemiBold"/>
                        </a:rPr>
                        <a:t>Data Table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FFFFFF"/>
                          </a:solidFill>
                          <a:latin typeface="Inter SemiBold"/>
                        </a:rPr>
                        <a:t>Record Count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FFFFFF"/>
                          </a:solidFill>
                          <a:latin typeface="Inter SemiBold"/>
                        </a:rPr>
                        <a:t>Key Attributes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FFFFFF"/>
                          </a:solidFill>
                          <a:latin typeface="Inter SemiBold"/>
                        </a:rPr>
                        <a:t>Primary 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871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475569"/>
                          </a:solidFill>
                          <a:latin typeface="Inter"/>
                        </a:rPr>
                        <a:t>Customers Master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125,000 Rows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CustomerID, Acquisition Source, Signup Date, Geography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Demographic &amp; Cohort Grouping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871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475569"/>
                          </a:solidFill>
                          <a:latin typeface="Inter"/>
                        </a:rPr>
                        <a:t>Transactions Log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480,000 Rows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OrderID, CustomerID, Order Value, Category, Discount%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Revenue &amp; Spending Pattern Analysis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871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475569"/>
                          </a:solidFill>
                          <a:latin typeface="Inter"/>
                        </a:rPr>
                        <a:t>Fulfillment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480,000 Rows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OrderID, Ship Date, Delivery Time, Courier, Returns Tag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Operational Efficiency Evaluation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872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475569"/>
                          </a:solidFill>
                          <a:latin typeface="Inter"/>
                        </a:rPr>
                        <a:t>Customer Support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62,000 Logs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TicketID, OrderID, Issue Type, Resolution Time, CSAT 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Service Satisfaction &amp; Friction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81025" y="3859262"/>
            <a:ext cx="17606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2341661" y="3859262"/>
            <a:ext cx="14367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778448" y="3859262"/>
            <a:ext cx="47154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8493918" y="3859262"/>
            <a:ext cx="31170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581025" y="4356943"/>
            <a:ext cx="17606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2341661" y="4356943"/>
            <a:ext cx="14367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3778448" y="4356943"/>
            <a:ext cx="47154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8493918" y="4356943"/>
            <a:ext cx="31170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581025" y="4854624"/>
            <a:ext cx="17606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2341661" y="4854624"/>
            <a:ext cx="14367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3778448" y="4854624"/>
            <a:ext cx="471547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8493918" y="4854624"/>
            <a:ext cx="311705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2AC834-D867-FF16-EDEB-DD0C33850A6E}"/>
              </a:ext>
            </a:extLst>
          </p:cNvPr>
          <p:cNvSpPr txBox="1"/>
          <p:nvPr/>
        </p:nvSpPr>
        <p:spPr>
          <a:xfrm>
            <a:off x="762000" y="6524625"/>
            <a:ext cx="20764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00" dirty="0"/>
              <a:t>AnalystLab Africa Internship Project</a:t>
            </a:r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23232"/>
            <a:ext cx="3530500" cy="25354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600" y="2523232"/>
            <a:ext cx="3530649" cy="25354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850" y="2523232"/>
            <a:ext cx="3530500" cy="25354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Key Performance Indicators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962025"/>
            <a:ext cx="7620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890505" y="6524625"/>
            <a:ext cx="72999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4 of 9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789932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9625" y="3399532"/>
            <a:ext cx="320696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F172A"/>
                </a:solidFill>
                <a:latin typeface="Poppins SemiBold"/>
              </a:rPr>
              <a:t>90-Day Retention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780532"/>
            <a:ext cx="305425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 dirty="0">
                <a:solidFill>
                  <a:srgbClr val="475569"/>
                </a:solidFill>
                <a:latin typeface="Inter"/>
              </a:rPr>
              <a:t>Definition: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% of customers making a second purchase within 90 days of signup.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584352"/>
            <a:ext cx="30542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2563EB"/>
                </a:solidFill>
                <a:latin typeface="Inter SemiBold"/>
              </a:rPr>
              <a:t>Current Baseline: 38.2%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8725" y="2789932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68725" y="3399532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F172A"/>
                </a:solidFill>
                <a:latin typeface="Poppins SemiBold"/>
              </a:rPr>
              <a:t>Average Order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725" y="3780532"/>
            <a:ext cx="3054399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 dirty="0">
                <a:solidFill>
                  <a:srgbClr val="475569"/>
                </a:solidFill>
                <a:latin typeface="Inter"/>
              </a:rPr>
              <a:t>Definition: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Net revenue generated per completed purchase order.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725" y="4348162"/>
            <a:ext cx="3054399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0D9488"/>
                </a:solidFill>
                <a:latin typeface="Inter SemiBold"/>
              </a:rPr>
              <a:t>Current Baseline: $74.50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7975" y="2789932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27975" y="3399532"/>
            <a:ext cx="320696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F172A"/>
                </a:solidFill>
                <a:latin typeface="Poppins SemiBold"/>
              </a:rPr>
              <a:t>Customer Churn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7975" y="3780532"/>
            <a:ext cx="305425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1" i="0" u="none" dirty="0">
                <a:solidFill>
                  <a:srgbClr val="475569"/>
                </a:solidFill>
                <a:latin typeface="Inter"/>
              </a:rPr>
              <a:t>Definition: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Annual proportion of active buyers becoming inactive (&gt;120 days).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7975" y="4348162"/>
            <a:ext cx="30542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D97706"/>
                </a:solidFill>
                <a:latin typeface="Inter SemiBold"/>
              </a:rPr>
              <a:t>Current Baseline: 28.6%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75" y="2913757"/>
            <a:ext cx="266700" cy="2095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92550" y="2913757"/>
            <a:ext cx="209550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7512" y="2913757"/>
            <a:ext cx="238125" cy="2095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FAD62D8-0375-3C30-865B-C885591F7501}"/>
              </a:ext>
            </a:extLst>
          </p:cNvPr>
          <p:cNvSpPr txBox="1"/>
          <p:nvPr/>
        </p:nvSpPr>
        <p:spPr>
          <a:xfrm>
            <a:off x="762000" y="6524625"/>
            <a:ext cx="20764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00" dirty="0"/>
              <a:t>AnalystLab Africa Internship Project</a:t>
            </a:r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61554"/>
            <a:ext cx="5381625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961554"/>
            <a:ext cx="5381625" cy="111799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3231951"/>
            <a:ext cx="5381625" cy="111799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8875" y="4502348"/>
            <a:ext cx="5381625" cy="11179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Executive BI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962025"/>
            <a:ext cx="7620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927080" y="6524626"/>
            <a:ext cx="6934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5 of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850" y="2142529"/>
            <a:ext cx="5270658" cy="24765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2563EB"/>
                </a:solidFill>
                <a:latin typeface="Poppins SemiBold"/>
              </a:rPr>
              <a:t>Real-Time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2485429"/>
            <a:ext cx="5019675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 dirty="0">
                <a:solidFill>
                  <a:srgbClr val="475569"/>
                </a:solidFill>
                <a:latin typeface="Inter"/>
              </a:rPr>
              <a:t>Centralized BI suite connecting customer transaction logs, delivery fulfillment statuses, and automated churn danger alerts.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3412926"/>
            <a:ext cx="5270658" cy="24765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0D9488"/>
                </a:solidFill>
                <a:latin typeface="Poppins SemiBold"/>
              </a:rPr>
              <a:t>Multi-Dimensional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3755826"/>
            <a:ext cx="5019675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 dirty="0">
                <a:solidFill>
                  <a:srgbClr val="475569"/>
                </a:solidFill>
                <a:latin typeface="Inter"/>
              </a:rPr>
              <a:t>Allows drill-down by customer region, order value tier, product category, and promotional coupon usage.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4683323"/>
            <a:ext cx="5270658" cy="247650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D97706"/>
                </a:solidFill>
                <a:latin typeface="Poppins SemiBold"/>
              </a:rPr>
              <a:t>Automated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850" y="5026223"/>
            <a:ext cx="5019675" cy="4131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 dirty="0">
                <a:solidFill>
                  <a:srgbClr val="475569"/>
                </a:solidFill>
                <a:latin typeface="Inter"/>
              </a:rPr>
              <a:t>Flags accounts exhibiting low engagement velocity before high-value churn events materialize.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850" y="2180629"/>
            <a:ext cx="161925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9850" y="3451026"/>
            <a:ext cx="16192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850" y="4721423"/>
            <a:ext cx="142875" cy="16192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F343FC4-6514-E9B2-D821-CDCB5F9C1961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1100" t="13825" r="13645" b="8289"/>
          <a:stretch>
            <a:fillRect/>
          </a:stretch>
        </p:blipFill>
        <p:spPr>
          <a:xfrm>
            <a:off x="803381" y="2208133"/>
            <a:ext cx="5240231" cy="309538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BB7B833-E25D-F702-FB95-41B3CC8043A5}"/>
              </a:ext>
            </a:extLst>
          </p:cNvPr>
          <p:cNvSpPr txBox="1"/>
          <p:nvPr/>
        </p:nvSpPr>
        <p:spPr>
          <a:xfrm>
            <a:off x="762000" y="6524625"/>
            <a:ext cx="20764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00" dirty="0"/>
              <a:t>AnalystLab Africa Internship Project</a:t>
            </a:r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Key Analytical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962025"/>
            <a:ext cx="7620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927080" y="6524625"/>
            <a:ext cx="69342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6 of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90800"/>
            <a:ext cx="10706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475569"/>
                </a:solidFill>
                <a:latin typeface="Inter"/>
              </a:rPr>
              <a:t>Delivery Delays Drive 64% of Early Churn: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Customers experiencing fulfillment times exceeding 5 business days exhibit a 3x higher probability of dropping off within 60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28975"/>
            <a:ext cx="10706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475569"/>
                </a:solidFill>
                <a:latin typeface="Inter"/>
              </a:rPr>
              <a:t>Discount Dependency Dilutes Margin: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First-time buyers acquired via discounts &gt;30% have a 45% lower retention rate compared to full-price organic signups.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67150"/>
            <a:ext cx="10706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475569"/>
                </a:solidFill>
                <a:latin typeface="Inter"/>
              </a:rPr>
              <a:t>Top 15% VIP Cohort Generates 58% Revenue: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High-value customers who purchase across 2 or more distinct product categories generate 4.2x higher lifetime revenue.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05325"/>
            <a:ext cx="10706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 dirty="0">
                <a:solidFill>
                  <a:srgbClr val="475569"/>
                </a:solidFill>
                <a:latin typeface="Inter"/>
              </a:rPr>
              <a:t>Mobile App Users Re-engage 2.1x Faster: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App-based shoppers demonstrate an average repeat cycle of 18 days vs. 38 days for desktop website users.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14612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52787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90962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29137"/>
            <a:ext cx="190500" cy="2000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42F864D-009C-17D7-209D-3C58BE3230E2}"/>
              </a:ext>
            </a:extLst>
          </p:cNvPr>
          <p:cNvSpPr txBox="1"/>
          <p:nvPr/>
        </p:nvSpPr>
        <p:spPr>
          <a:xfrm>
            <a:off x="762000" y="6524625"/>
            <a:ext cx="20764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00" dirty="0"/>
              <a:t>AnalystLab Africa Internship Project</a:t>
            </a:r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70857"/>
            <a:ext cx="3530500" cy="24401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600" y="2570857"/>
            <a:ext cx="3530649" cy="24401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850" y="2570857"/>
            <a:ext cx="3530500" cy="24401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Strategic Recommendations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962025"/>
            <a:ext cx="7620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71500" y="6524625"/>
            <a:ext cx="1533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94A3B8"/>
                </a:solidFill>
                <a:latin typeface="Inter"/>
              </a:rPr>
              <a:t>Strategic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29950" y="6524625"/>
            <a:ext cx="590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7 of 9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837557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9625" y="3447157"/>
            <a:ext cx="320696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F172A"/>
                </a:solidFill>
                <a:latin typeface="Poppins SemiBold"/>
              </a:rPr>
              <a:t>Optimize Logistics SLA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828157"/>
            <a:ext cx="30542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Enforce 3-day regional fulfillment guarantees and implement automated SMS tracking updates to eliminate early delivery drop-offs.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8725" y="2837557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68725" y="3447157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F172A"/>
                </a:solidFill>
                <a:latin typeface="Poppins SemiBold"/>
              </a:rPr>
              <a:t>Personalized Cross-Selling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725" y="3828157"/>
            <a:ext cx="3054399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Launch automated recommendation engines tailored to first-purchase categories to encourage multi-category exploration early.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7975" y="2837557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27975" y="3447157"/>
            <a:ext cx="320696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F172A"/>
                </a:solidFill>
                <a:latin typeface="Poppins SemiBold"/>
              </a:rPr>
              <a:t>App Adoption Push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7975" y="3828157"/>
            <a:ext cx="3054250" cy="94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Incentivize web shoppers to download the mobile app via loyalty rewards, accelerating re-engagement and purchase frequency.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875" y="2961382"/>
            <a:ext cx="26670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8263" y="2961382"/>
            <a:ext cx="238125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5612" y="2961382"/>
            <a:ext cx="1619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03165"/>
            <a:ext cx="5381625" cy="21754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703165"/>
            <a:ext cx="5381625" cy="2175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Technical Challenges Faced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962025"/>
            <a:ext cx="7620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927080" y="6524625"/>
            <a:ext cx="69342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8 of 9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94129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9625" y="3550890"/>
            <a:ext cx="515064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F172A"/>
                </a:solidFill>
                <a:latin typeface="Poppins SemiBold"/>
              </a:rPr>
              <a:t>Data Discrepancies &amp; Silos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931890"/>
            <a:ext cx="4905375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Inconsistent order status definitions between legacy warehouse ERP and modern checkout gateways required extensive ETL transformation and unified schema definition.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94129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77000" y="3550890"/>
            <a:ext cx="515064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F172A"/>
                </a:solidFill>
                <a:latin typeface="Poppins SemiBold"/>
              </a:rPr>
              <a:t>Missing Support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931890"/>
            <a:ext cx="4905375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Around 12% of customer service ticket records lacked associated OrderIDs, requiring fuzzy-matching algorithms on customer email and timestamp logs.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737" y="3065115"/>
            <a:ext cx="18097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0825" y="3065115"/>
            <a:ext cx="209550" cy="2095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980576A-A305-9A5C-0418-332E57E36F7F}"/>
              </a:ext>
            </a:extLst>
          </p:cNvPr>
          <p:cNvSpPr txBox="1"/>
          <p:nvPr/>
        </p:nvSpPr>
        <p:spPr>
          <a:xfrm>
            <a:off x="762000" y="6524625"/>
            <a:ext cx="20764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00" dirty="0"/>
              <a:t>AnalystLab Africa Internship Project</a:t>
            </a:r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419850"/>
            <a:ext cx="110490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24150"/>
            <a:ext cx="11049000" cy="196672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00150"/>
            <a:ext cx="5381625" cy="1238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1200150"/>
            <a:ext cx="5381625" cy="1238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Project Impact &amp; Conclusion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962025"/>
            <a:ext cx="76200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0936224" y="6524625"/>
            <a:ext cx="684276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94A3B8"/>
                </a:solidFill>
                <a:latin typeface="Inter"/>
              </a:rPr>
              <a:t>Slide 9 of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2952750"/>
            <a:ext cx="1118139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F172A"/>
                </a:solidFill>
                <a:latin typeface="Poppins SemiBold"/>
              </a:rPr>
              <a:t>Executive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333750"/>
            <a:ext cx="1064895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By transitioning from reactive discount marketing to data-driven operational SLAs and targeted cross-selling, the organization can successfully protect customer lifetime value and scale sustainable recurring revenue.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1438275"/>
            <a:ext cx="4905375" cy="515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1" i="0" u="none" dirty="0">
                <a:solidFill>
                  <a:srgbClr val="16A34A"/>
                </a:solidFill>
                <a:latin typeface="Poppins"/>
              </a:rPr>
              <a:t>+$1</a:t>
            </a:r>
            <a:r>
              <a:rPr lang="en-US" sz="3900" b="1" dirty="0">
                <a:solidFill>
                  <a:srgbClr val="16A34A"/>
                </a:solidFill>
                <a:latin typeface="Poppins"/>
              </a:rPr>
              <a:t>1.49</a:t>
            </a:r>
            <a:r>
              <a:rPr sz="3900" b="1" i="0" u="none" dirty="0">
                <a:solidFill>
                  <a:srgbClr val="16A34A"/>
                </a:solidFill>
                <a:latin typeface="Poppins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2009775"/>
            <a:ext cx="49053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15803D"/>
                </a:solidFill>
                <a:latin typeface="Inter SemiBold"/>
              </a:rPr>
              <a:t>Projected Annual Revenue Uplift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1438275"/>
            <a:ext cx="4905375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sz="3900" b="1" i="0" u="none" dirty="0">
                <a:solidFill>
                  <a:srgbClr val="2563EB"/>
                </a:solidFill>
                <a:latin typeface="Poppins"/>
              </a:rPr>
              <a:t>-22%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2009775"/>
            <a:ext cx="49053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 dirty="0">
                <a:solidFill>
                  <a:srgbClr val="1E40AF"/>
                </a:solidFill>
                <a:latin typeface="Inter SemiBold"/>
              </a:rPr>
              <a:t>Expected Reduction in Churn Rate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25049C-0236-49AD-208F-F04F12C04D92}"/>
              </a:ext>
            </a:extLst>
          </p:cNvPr>
          <p:cNvSpPr txBox="1"/>
          <p:nvPr/>
        </p:nvSpPr>
        <p:spPr>
          <a:xfrm>
            <a:off x="762000" y="6524625"/>
            <a:ext cx="20764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900" dirty="0"/>
              <a:t>AnalystLab Africa Internship Project</a:t>
            </a:r>
            <a:endParaRPr sz="9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736</Words>
  <Application>Microsoft Office PowerPoint</Application>
  <PresentationFormat>Widescreen</PresentationFormat>
  <Paragraphs>107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Jonathan Ogana</cp:lastModifiedBy>
  <cp:revision>4</cp:revision>
  <dcterms:created xsi:type="dcterms:W3CDTF">2013-01-27T09:14:16Z</dcterms:created>
  <dcterms:modified xsi:type="dcterms:W3CDTF">2026-07-30T22:43:56Z</dcterms:modified>
  <cp:category/>
</cp:coreProperties>
</file>